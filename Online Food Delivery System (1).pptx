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</dgm:ptLst>
  <dgm:cxnLst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3140" y="2176900"/>
            <a:ext cx="9440034" cy="2062480"/>
          </a:xfrm>
        </p:spPr>
        <p:txBody>
          <a:bodyPr>
            <a:normAutofit fontScale="90000"/>
          </a:bodyPr>
          <a:lstStyle/>
          <a:p>
            <a:r>
              <a:rPr lang="en-IN" sz="7200" b="1" dirty="0"/>
              <a:t>Online Food Delivery System</a:t>
            </a:r>
            <a:br>
              <a:rPr lang="en-IN" sz="7200" b="1" dirty="0"/>
            </a:b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 lnSpcReduction="10000"/>
          </a:bodyPr>
          <a:lstStyle/>
          <a:p>
            <a:r>
              <a:rPr lang="en-IN" sz="2800" b="1" dirty="0"/>
              <a:t>"A Java-Based Application for Efficient Restaurant Management, Order Processing, and Automated Billing Using Object-Oriented Programming Concepts."</a:t>
            </a:r>
            <a:endParaRPr lang="en-US" sz="2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0A2B50-16C7-4D1A-1A3E-748951436F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693" y="1580302"/>
            <a:ext cx="1085893" cy="1193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7F04F0-04D3-1E85-B048-115C756D9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605" y="2285199"/>
            <a:ext cx="1564718" cy="156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2499248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49A71817-9202-F916-4577-934AB33B77A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44" y="10"/>
            <a:ext cx="12191980" cy="68579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 txBox="1">
            <a:spLocks/>
          </p:cNvSpPr>
          <p:nvPr/>
        </p:nvSpPr>
        <p:spPr>
          <a:xfrm>
            <a:off x="319259" y="549650"/>
            <a:ext cx="5771978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7300" b="1" dirty="0"/>
              <a:t>Introduction</a:t>
            </a:r>
            <a:br>
              <a:rPr lang="en-IN" b="1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B43F8-941F-F67F-7516-52BC60B49DA5}"/>
              </a:ext>
            </a:extLst>
          </p:cNvPr>
          <p:cNvSpPr txBox="1"/>
          <p:nvPr/>
        </p:nvSpPr>
        <p:spPr>
          <a:xfrm>
            <a:off x="391822" y="1451550"/>
            <a:ext cx="110489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Online food ordering platforms connect customers with restaurants and streamline order fulfilment. This project implements a compact, console-based Online Food Delivery System using Java to model restaurant operations, orders and automated billing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9F9F0-E42E-1CC4-8123-04A324F0116E}"/>
              </a:ext>
            </a:extLst>
          </p:cNvPr>
          <p:cNvSpPr txBox="1"/>
          <p:nvPr/>
        </p:nvSpPr>
        <p:spPr>
          <a:xfrm>
            <a:off x="923925" y="2794750"/>
            <a:ext cx="1101903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Purpose</a:t>
            </a:r>
          </a:p>
          <a:p>
            <a:r>
              <a:rPr lang="en-IN" sz="2400" dirty="0"/>
              <a:t>Demonstrate practical application of Java OOP to manage restaurants, menus and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Need</a:t>
            </a:r>
          </a:p>
          <a:p>
            <a:r>
              <a:rPr lang="en-IN" sz="2400" dirty="0"/>
              <a:t>Efficient order management reduces manual errors and speeds up billing for small restaurants.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Objectives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400" dirty="0"/>
              <a:t>Implement Java and OOP concepts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400" dirty="0"/>
              <a:t>Manage restaurants, food items, and customer orders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400" dirty="0"/>
              <a:t>Calculate bills automatically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400" dirty="0"/>
              <a:t>Generate clear order summaries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97A2E8-C799-7F9F-26DA-AC213A9523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237" y="280150"/>
            <a:ext cx="1092532" cy="109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CE253268-2460-39B3-BFC9-5AF1DD37FE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59261"/>
            <a:ext cx="1219198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2A1DA3-4179-A630-93FF-9E47E4A4AB28}"/>
              </a:ext>
            </a:extLst>
          </p:cNvPr>
          <p:cNvSpPr txBox="1"/>
          <p:nvPr/>
        </p:nvSpPr>
        <p:spPr>
          <a:xfrm>
            <a:off x="389467" y="313604"/>
            <a:ext cx="4135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</a:rPr>
              <a:t>System Workflow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531B465-CF7C-1CD9-1EF2-EBF749FAAD36}"/>
              </a:ext>
            </a:extLst>
          </p:cNvPr>
          <p:cNvSpPr/>
          <p:nvPr/>
        </p:nvSpPr>
        <p:spPr>
          <a:xfrm>
            <a:off x="389467" y="933755"/>
            <a:ext cx="4301067" cy="846667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FBAB1CF-6173-F737-8EB5-6A2DEA81B570}"/>
              </a:ext>
            </a:extLst>
          </p:cNvPr>
          <p:cNvSpPr/>
          <p:nvPr/>
        </p:nvSpPr>
        <p:spPr>
          <a:xfrm>
            <a:off x="389467" y="1776350"/>
            <a:ext cx="5096933" cy="846667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9FC5F92-1777-688B-C1F6-9134C119A86B}"/>
              </a:ext>
            </a:extLst>
          </p:cNvPr>
          <p:cNvSpPr/>
          <p:nvPr/>
        </p:nvSpPr>
        <p:spPr>
          <a:xfrm>
            <a:off x="389467" y="2614874"/>
            <a:ext cx="5892800" cy="84666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BDD9C72-A6C3-CF09-2981-BD6E07CFCFF9}"/>
              </a:ext>
            </a:extLst>
          </p:cNvPr>
          <p:cNvSpPr/>
          <p:nvPr/>
        </p:nvSpPr>
        <p:spPr>
          <a:xfrm>
            <a:off x="389467" y="3369734"/>
            <a:ext cx="6654800" cy="84666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B152D-AEB3-1B03-5BF4-639BF1AFEDBE}"/>
              </a:ext>
            </a:extLst>
          </p:cNvPr>
          <p:cNvSpPr txBox="1"/>
          <p:nvPr/>
        </p:nvSpPr>
        <p:spPr>
          <a:xfrm rot="10800000" flipH="1" flipV="1">
            <a:off x="643803" y="1140767"/>
            <a:ext cx="2964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Browse 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B1D1E-F25B-0CB3-D4DA-D4ADC64D7A13}"/>
              </a:ext>
            </a:extLst>
          </p:cNvPr>
          <p:cNvSpPr txBox="1"/>
          <p:nvPr/>
        </p:nvSpPr>
        <p:spPr>
          <a:xfrm>
            <a:off x="643803" y="1967930"/>
            <a:ext cx="2319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Select items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5A0E4E-1288-9815-AFCE-88C7AB5211FE}"/>
              </a:ext>
            </a:extLst>
          </p:cNvPr>
          <p:cNvSpPr txBox="1"/>
          <p:nvPr/>
        </p:nvSpPr>
        <p:spPr>
          <a:xfrm>
            <a:off x="643803" y="2819412"/>
            <a:ext cx="2404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Add Quantity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D0C371-AF1C-D67B-1B92-E3BE09FE2FB4}"/>
              </a:ext>
            </a:extLst>
          </p:cNvPr>
          <p:cNvSpPr txBox="1"/>
          <p:nvPr/>
        </p:nvSpPr>
        <p:spPr>
          <a:xfrm>
            <a:off x="643803" y="3562234"/>
            <a:ext cx="279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Create Order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295B46-AAC1-ECE5-9EDD-9CE9709C57F1}"/>
              </a:ext>
            </a:extLst>
          </p:cNvPr>
          <p:cNvSpPr txBox="1"/>
          <p:nvPr/>
        </p:nvSpPr>
        <p:spPr>
          <a:xfrm>
            <a:off x="1348673" y="4091793"/>
            <a:ext cx="1096186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Main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Restaurant Class — stores menu and restaurant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chemeClr val="tx2"/>
                </a:solidFill>
              </a:rPr>
              <a:t>FoodItem</a:t>
            </a:r>
            <a:r>
              <a:rPr lang="en-IN" sz="2000" dirty="0">
                <a:solidFill>
                  <a:schemeClr val="tx2"/>
                </a:solidFill>
              </a:rPr>
              <a:t> Class — name, price, 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Order Class — selected items, quantities, billing logic</a:t>
            </a:r>
          </a:p>
          <a:p>
            <a:r>
              <a:rPr lang="en-IN" sz="2000" b="1" dirty="0">
                <a:solidFill>
                  <a:schemeClr val="tx2"/>
                </a:solidFill>
              </a:rPr>
              <a:t>Key OOP Concepts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Classes &amp;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Encapsulation (private fields, getters/setters)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Constructors &amp;Method design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8DB3AA-AE77-B4A0-4727-9845DB58D62F}"/>
              </a:ext>
            </a:extLst>
          </p:cNvPr>
          <p:cNvSpPr txBox="1"/>
          <p:nvPr/>
        </p:nvSpPr>
        <p:spPr>
          <a:xfrm>
            <a:off x="7777344" y="1027724"/>
            <a:ext cx="377085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2"/>
                </a:solidFill>
              </a:rPr>
              <a:t>The flowchart shows the customer journey from browsing the menu to receiving a final bill. Business rules (delivery charge, tax) are applied automatically before finalising the order. 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0C707F-86DD-042B-118C-97D30CA86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544" y="4581248"/>
            <a:ext cx="1834793" cy="160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1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659000EF-0939-1E0B-9401-7857BDBB7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80" y="-36506"/>
            <a:ext cx="12191980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DFA3B9-9345-F14A-EB5F-C4824FED2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03" y="1077949"/>
            <a:ext cx="4086398" cy="52889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FECCDF-28D4-66E6-C123-D4CA5BCDB8E8}"/>
              </a:ext>
            </a:extLst>
          </p:cNvPr>
          <p:cNvSpPr txBox="1"/>
          <p:nvPr/>
        </p:nvSpPr>
        <p:spPr>
          <a:xfrm>
            <a:off x="491067" y="304590"/>
            <a:ext cx="9177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2">
                    <a:lumMod val="90000"/>
                  </a:schemeClr>
                </a:solidFill>
              </a:rPr>
              <a:t>Project — Menu &amp; Food Selection (Screenshot)</a:t>
            </a:r>
          </a:p>
          <a:p>
            <a:endParaRPr lang="en-IN" dirty="0">
              <a:solidFill>
                <a:schemeClr val="tx2">
                  <a:lumMod val="9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FCE9EC-26C3-13F3-B1D9-79D7960649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284" y="1041515"/>
            <a:ext cx="3471517" cy="52889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A68546-B37B-418E-F7F9-077E701729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418" y="1041515"/>
            <a:ext cx="3695660" cy="528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4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0D425213-B6E1-237F-6831-962A544F03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3986B5-D60F-A726-BC26-81CDC2E52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33" y="967357"/>
            <a:ext cx="3892879" cy="52673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0DF49D-D5EC-86F9-271B-31A1EFB50C2B}"/>
              </a:ext>
            </a:extLst>
          </p:cNvPr>
          <p:cNvSpPr txBox="1"/>
          <p:nvPr/>
        </p:nvSpPr>
        <p:spPr>
          <a:xfrm>
            <a:off x="4275649" y="361670"/>
            <a:ext cx="179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</a:rPr>
              <a:t>Output:-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69408-69DE-E1B3-93A3-84E996FEC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649" y="967357"/>
            <a:ext cx="4131731" cy="52673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1B6647-F58E-DAC3-0D0D-4D89DC92FC93}"/>
              </a:ext>
            </a:extLst>
          </p:cNvPr>
          <p:cNvSpPr txBox="1"/>
          <p:nvPr/>
        </p:nvSpPr>
        <p:spPr>
          <a:xfrm>
            <a:off x="8497649" y="848630"/>
            <a:ext cx="37846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50" dirty="0">
                <a:solidFill>
                  <a:schemeClr val="tx2"/>
                </a:solidFill>
              </a:rPr>
              <a:t>Order summary lists selected items and quantities, calculates subtotal, adds delivery charges and GST, then displays the final payable amount. The system also generates a concise order receipt for record-keeping.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chemeClr val="tx2"/>
                </a:solidFill>
              </a:rPr>
              <a:t>Subtotal computed from item prices and quantities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chemeClr val="tx2"/>
                </a:solidFill>
              </a:rPr>
              <a:t>Delivery charges applied as a fixed or conditional fee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chemeClr val="tx2"/>
                </a:solidFill>
              </a:rPr>
              <a:t>GST/Tax applied as percentage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chemeClr val="tx2"/>
                </a:solidFill>
              </a:rPr>
              <a:t>Final bill presented with breakdown</a:t>
            </a:r>
          </a:p>
        </p:txBody>
      </p:sp>
    </p:spTree>
    <p:extLst>
      <p:ext uri="{BB962C8B-B14F-4D97-AF65-F5344CB8AC3E}">
        <p14:creationId xmlns:p14="http://schemas.microsoft.com/office/powerpoint/2010/main" val="3047365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17C9BB0A-9D3B-DB13-0DBA-05BB9E8502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80" y="-36506"/>
            <a:ext cx="12191980" cy="6857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24FBE1-4096-9070-E6B2-57D77AFBAE99}"/>
              </a:ext>
            </a:extLst>
          </p:cNvPr>
          <p:cNvSpPr txBox="1"/>
          <p:nvPr/>
        </p:nvSpPr>
        <p:spPr>
          <a:xfrm>
            <a:off x="524933" y="586943"/>
            <a:ext cx="4876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67CFCFFD-1983-C364-AD2D-D8BCCB7FCFFE}"/>
              </a:ext>
            </a:extLst>
          </p:cNvPr>
          <p:cNvSpPr/>
          <p:nvPr/>
        </p:nvSpPr>
        <p:spPr>
          <a:xfrm>
            <a:off x="105962" y="2412980"/>
            <a:ext cx="3770576" cy="259869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tx2">
              <a:lumMod val="10000"/>
              <a:alpha val="50000"/>
            </a:schemeClr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D08AC2-3611-E238-A42E-A6EFCDC512FC}"/>
              </a:ext>
            </a:extLst>
          </p:cNvPr>
          <p:cNvSpPr txBox="1"/>
          <p:nvPr/>
        </p:nvSpPr>
        <p:spPr>
          <a:xfrm>
            <a:off x="388272" y="2709893"/>
            <a:ext cx="348826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Project Outcome</a:t>
            </a:r>
          </a:p>
          <a:p>
            <a:r>
              <a:rPr lang="en-IN" sz="2400" dirty="0">
                <a:solidFill>
                  <a:schemeClr val="tx2"/>
                </a:solidFill>
              </a:rPr>
              <a:t>Successful implementation of an Online Food Delivery System using Java with clear OOP structure.</a:t>
            </a:r>
          </a:p>
          <a:p>
            <a:endParaRPr lang="en-IN" dirty="0"/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8AB3883B-A3A5-2552-AD13-39A4BC7C5BC6}"/>
              </a:ext>
            </a:extLst>
          </p:cNvPr>
          <p:cNvSpPr/>
          <p:nvPr/>
        </p:nvSpPr>
        <p:spPr>
          <a:xfrm>
            <a:off x="3987780" y="2412980"/>
            <a:ext cx="3849545" cy="2526609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tx2">
              <a:lumMod val="10000"/>
              <a:alpha val="50000"/>
            </a:schemeClr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A4AF30-3302-8BA2-0A89-E9F9A8157F72}"/>
              </a:ext>
            </a:extLst>
          </p:cNvPr>
          <p:cNvSpPr txBox="1"/>
          <p:nvPr/>
        </p:nvSpPr>
        <p:spPr>
          <a:xfrm>
            <a:off x="4280285" y="2611012"/>
            <a:ext cx="37116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Learning Achieved</a:t>
            </a:r>
          </a:p>
          <a:p>
            <a:r>
              <a:rPr lang="en-IN" sz="2400" dirty="0">
                <a:solidFill>
                  <a:schemeClr val="tx2"/>
                </a:solidFill>
              </a:rPr>
              <a:t>Applied classes, encapsulation, constructors and methods in a practical context.</a:t>
            </a:r>
          </a:p>
          <a:p>
            <a:endParaRPr lang="en-IN" dirty="0"/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106E3F78-2C82-2D72-82AC-DCD1AA3AFDAC}"/>
              </a:ext>
            </a:extLst>
          </p:cNvPr>
          <p:cNvSpPr/>
          <p:nvPr/>
        </p:nvSpPr>
        <p:spPr>
          <a:xfrm>
            <a:off x="7948567" y="2412979"/>
            <a:ext cx="4200017" cy="2526609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tx2">
              <a:lumMod val="10000"/>
              <a:alpha val="50000"/>
            </a:schemeClr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2E81CC-9EC5-8A0E-782F-6F6D7707D795}"/>
              </a:ext>
            </a:extLst>
          </p:cNvPr>
          <p:cNvSpPr txBox="1"/>
          <p:nvPr/>
        </p:nvSpPr>
        <p:spPr>
          <a:xfrm>
            <a:off x="8577399" y="2525226"/>
            <a:ext cx="35086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Functional Highlights</a:t>
            </a:r>
          </a:p>
          <a:p>
            <a:r>
              <a:rPr lang="en-IN" sz="2400" dirty="0">
                <a:solidFill>
                  <a:schemeClr val="tx2"/>
                </a:solidFill>
              </a:rPr>
              <a:t>Automated billing, order summaries and simple menu management validated through screenshots and tests.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6181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3B5B2A0B-A0C8-AC66-1353-C71DBA4B63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2A75DC-2053-BD22-E268-2DCFC1B193D2}"/>
              </a:ext>
            </a:extLst>
          </p:cNvPr>
          <p:cNvSpPr txBox="1"/>
          <p:nvPr/>
        </p:nvSpPr>
        <p:spPr>
          <a:xfrm>
            <a:off x="406399" y="156006"/>
            <a:ext cx="5554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tx2"/>
                </a:solidFill>
              </a:rPr>
              <a:t>Future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24457-63C7-1D14-7BA4-FCD4CC666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361362"/>
            <a:ext cx="948268" cy="948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F19F32-6224-C1DF-5C80-BB3F77A803F6}"/>
              </a:ext>
            </a:extLst>
          </p:cNvPr>
          <p:cNvSpPr txBox="1"/>
          <p:nvPr/>
        </p:nvSpPr>
        <p:spPr>
          <a:xfrm>
            <a:off x="2582334" y="1235332"/>
            <a:ext cx="27008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Multiple Restaurants</a:t>
            </a:r>
          </a:p>
          <a:p>
            <a:r>
              <a:rPr lang="en-IN" sz="2000" dirty="0">
                <a:solidFill>
                  <a:schemeClr val="tx2"/>
                </a:solidFill>
              </a:rPr>
              <a:t>Extend model to host several restaurants with independent menus.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D05441-3A05-07D2-EA3F-35DF466F7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161413"/>
            <a:ext cx="948268" cy="9482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008AF3-B3E8-6120-F74A-F32DE40457EF}"/>
              </a:ext>
            </a:extLst>
          </p:cNvPr>
          <p:cNvSpPr txBox="1"/>
          <p:nvPr/>
        </p:nvSpPr>
        <p:spPr>
          <a:xfrm>
            <a:off x="2582334" y="3035382"/>
            <a:ext cx="27008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Distance-Based Charges</a:t>
            </a:r>
          </a:p>
          <a:p>
            <a:r>
              <a:rPr lang="en-IN" sz="2000" dirty="0">
                <a:solidFill>
                  <a:schemeClr val="tx2"/>
                </a:solidFill>
              </a:rPr>
              <a:t>Calculate delivery fee by distance and ETA</a:t>
            </a:r>
            <a:r>
              <a:rPr lang="en-IN" sz="2000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D73916-CF52-D4B8-5860-FD7239F34A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431" y="4859600"/>
            <a:ext cx="1083903" cy="10839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B906E3-386C-ACC8-F2FB-CB0528FD84F8}"/>
              </a:ext>
            </a:extLst>
          </p:cNvPr>
          <p:cNvSpPr txBox="1"/>
          <p:nvPr/>
        </p:nvSpPr>
        <p:spPr>
          <a:xfrm>
            <a:off x="2662766" y="4808191"/>
            <a:ext cx="27008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User Accounts</a:t>
            </a:r>
          </a:p>
          <a:p>
            <a:r>
              <a:rPr lang="en-IN" sz="2000" dirty="0">
                <a:solidFill>
                  <a:schemeClr val="tx2"/>
                </a:solidFill>
              </a:rPr>
              <a:t>Implement registration, authentication and order history.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0662B5-A96C-A382-AD96-0D67E03483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5" y="1104716"/>
            <a:ext cx="1330945" cy="13309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683D94-B605-6D74-F810-9AFBA2640CB0}"/>
              </a:ext>
            </a:extLst>
          </p:cNvPr>
          <p:cNvSpPr txBox="1"/>
          <p:nvPr/>
        </p:nvSpPr>
        <p:spPr>
          <a:xfrm>
            <a:off x="8695267" y="1128345"/>
            <a:ext cx="24299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Coupon System</a:t>
            </a:r>
          </a:p>
          <a:p>
            <a:r>
              <a:rPr lang="en-IN" sz="2000" dirty="0">
                <a:solidFill>
                  <a:schemeClr val="tx2"/>
                </a:solidFill>
              </a:rPr>
              <a:t>Introduce discount codes and validation rules.</a:t>
            </a:r>
          </a:p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C05FAA-81AC-3910-D004-C70BBC16E9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469" y="2971670"/>
            <a:ext cx="1138011" cy="11380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0FFEFDA-B89A-C330-9079-1994E5624A8F}"/>
              </a:ext>
            </a:extLst>
          </p:cNvPr>
          <p:cNvSpPr txBox="1"/>
          <p:nvPr/>
        </p:nvSpPr>
        <p:spPr>
          <a:xfrm>
            <a:off x="8695267" y="2835328"/>
            <a:ext cx="27008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Database Integration</a:t>
            </a:r>
          </a:p>
          <a:p>
            <a:r>
              <a:rPr lang="en-IN" sz="2000" dirty="0">
                <a:solidFill>
                  <a:schemeClr val="tx2"/>
                </a:solidFill>
              </a:rPr>
              <a:t>Migrate data to MySQL for persistence and reporting.</a:t>
            </a:r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79B27B-CAAB-C890-2A0E-CD2021AE17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765" y="4803098"/>
            <a:ext cx="1178716" cy="11787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C8D33A3-C2E1-DD58-76C4-0F1228300931}"/>
              </a:ext>
            </a:extLst>
          </p:cNvPr>
          <p:cNvSpPr txBox="1"/>
          <p:nvPr/>
        </p:nvSpPr>
        <p:spPr>
          <a:xfrm>
            <a:off x="8703735" y="4803098"/>
            <a:ext cx="24214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GUI &amp; Web/Mobile</a:t>
            </a:r>
          </a:p>
          <a:p>
            <a:r>
              <a:rPr lang="en-IN" sz="2000" dirty="0">
                <a:solidFill>
                  <a:schemeClr val="tx2"/>
                </a:solidFill>
              </a:rPr>
              <a:t>Build Java Swing GUI and later a web or mobile frontend.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3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CA5BFF36-B19E-0678-E74C-23697A6B51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7A7E02-C348-C99E-7E7E-FDCD54FC7213}"/>
              </a:ext>
            </a:extLst>
          </p:cNvPr>
          <p:cNvSpPr txBox="1"/>
          <p:nvPr/>
        </p:nvSpPr>
        <p:spPr>
          <a:xfrm>
            <a:off x="4174056" y="2133599"/>
            <a:ext cx="38438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solidFill>
                  <a:schemeClr val="tx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2731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{59DE11A7-D089-4D8E-B502-4F5BA8FF812E}TFe887d8cf-77a9-48cd-9a74-d8d08097a61c3993dec7_win32-329aa78f548b</Template>
  <TotalTime>133</TotalTime>
  <Words>399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Goudy Old Style</vt:lpstr>
      <vt:lpstr>Wingdings 2</vt:lpstr>
      <vt:lpstr>SlateVTI</vt:lpstr>
      <vt:lpstr>Online Food Delivery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harshita2410hp@outlook.com</dc:creator>
  <cp:lastModifiedBy>harshita2410hp@outlook.com</cp:lastModifiedBy>
  <cp:revision>1</cp:revision>
  <dcterms:created xsi:type="dcterms:W3CDTF">2026-06-09T18:40:29Z</dcterms:created>
  <dcterms:modified xsi:type="dcterms:W3CDTF">2026-06-09T20:53:41Z</dcterms:modified>
</cp:coreProperties>
</file>